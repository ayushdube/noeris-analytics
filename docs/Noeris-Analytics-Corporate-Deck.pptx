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400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32918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yne"/>
              </a:defRPr>
            </a:pPr>
            <a: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" y="640080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ECEA"/>
                </a:solidFill>
                <a:latin typeface="IBM Plex Sans"/>
              </a:defRPr>
            </a:pPr>
            <a:r>
              <a:t>Noeris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04672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858582"/>
                </a:solidFill>
                <a:latin typeface="Consolas"/>
              </a:defRPr>
            </a:pPr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BOUTIQUE DATA &amp; AI CONSULTANCY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4000" b="0">
                <a:solidFill>
                  <a:srgbClr val="ECECEA"/>
                </a:solidFill>
                <a:latin typeface="Syne"/>
              </a:defRPr>
            </a:pPr>
            <a:r>
              <a:t>Enterprise Analytics Delivered by the</a:t>
            </a:r>
          </a:p>
          <a:p>
            <a:pPr>
              <a:lnSpc>
                <a:spcPct val="105000"/>
              </a:lnSpc>
              <a:defRPr sz="4000" b="0">
                <a:solidFill>
                  <a:srgbClr val="ECECEA"/>
                </a:solidFill>
                <a:latin typeface="Syne"/>
              </a:defRPr>
            </a:pPr>
            <a:r>
              <a:t>Consultants Who Architect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800"/>
              </a:spcAft>
              <a:defRPr sz="1300">
                <a:solidFill>
                  <a:srgbClr val="B8B8B4"/>
                </a:solidFill>
                <a:latin typeface="IBM Plex Sans"/>
              </a:defRPr>
            </a:pPr>
            <a:r>
              <a:t>Turn fragmented business data into trusted insights for business teams and executive leadership.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300">
                <a:solidFill>
                  <a:srgbClr val="B8B8B4"/>
                </a:solidFill>
                <a:latin typeface="IBM Plex Sans"/>
              </a:defRPr>
            </a:pPr>
          </a:p>
          <a:p>
            <a:pPr>
              <a:lnSpc>
                <a:spcPct val="145000"/>
              </a:lnSpc>
              <a:spcAft>
                <a:spcPts val="800"/>
              </a:spcAft>
              <a:defRPr sz="1300">
                <a:solidFill>
                  <a:srgbClr val="B8B8B4"/>
                </a:solidFill>
                <a:latin typeface="IBM Plex Sans"/>
              </a:defRPr>
            </a:pPr>
            <a:r>
              <a:t>Principal-led engagements  ·  Power BI &amp; Spotfire  ·  Cloud data platforms  · 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200" b="0">
                <a:solidFill>
                  <a:srgbClr val="ECECEA"/>
                </a:solidFill>
                <a:latin typeface="Syne"/>
              </a:defRPr>
            </a:pPr>
            <a:r>
              <a:t>A boutique consultancy built for decision-makers.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800"/>
              </a:spcAft>
              <a:defRPr sz="1500">
                <a:solidFill>
                  <a:srgbClr val="B8B8B4"/>
                </a:solidFill>
                <a:latin typeface="IBM Plex Sans"/>
              </a:defRPr>
            </a:pPr>
            <a:r>
              <a:t>Noeris Analytics is a principal-led data and AI consultancy. Every engagement is architected and delivered by senior consultants - not handed off to a delivery bench after the sale.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500">
                <a:solidFill>
                  <a:srgbClr val="B8B8B4"/>
                </a:solidFill>
                <a:latin typeface="IBM Plex Sans"/>
              </a:defRPr>
            </a:pPr>
          </a:p>
          <a:p>
            <a:pPr>
              <a:lnSpc>
                <a:spcPct val="145000"/>
              </a:lnSpc>
              <a:spcAft>
                <a:spcPts val="800"/>
              </a:spcAft>
              <a:defRPr sz="1500">
                <a:solidFill>
                  <a:srgbClr val="B8B8B4"/>
                </a:solidFill>
                <a:latin typeface="IBM Plex Sans"/>
              </a:defRPr>
            </a:pPr>
            <a:r>
              <a:t>Built by consultants who have delivered enterprise analytics solutions across North America, Europe, and APAC.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160520"/>
            <a:ext cx="242316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61688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234"/>
                </a:solidFill>
                <a:latin typeface="Syne"/>
              </a:defRPr>
            </a:pPr>
            <a:r>
              <a:t>Multiple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18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Projects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160520"/>
            <a:ext cx="242316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4361688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234"/>
                </a:solidFill>
                <a:latin typeface="Syne"/>
              </a:defRPr>
            </a:pPr>
            <a:r>
              <a:t>4.9★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4818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Client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160520"/>
            <a:ext cx="242316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4361688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234"/>
                </a:solidFill>
                <a:latin typeface="Syne"/>
              </a:defRPr>
            </a:pPr>
            <a:r>
              <a:t>$200K+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4818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Engagement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160520"/>
            <a:ext cx="242316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4361688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234"/>
                </a:solidFill>
                <a:latin typeface="Syne"/>
              </a:defRPr>
            </a:pPr>
            <a:r>
              <a:t>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818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Rated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600" b="0">
                <a:solidFill>
                  <a:srgbClr val="ECECEA"/>
                </a:solidFill>
                <a:latin typeface="Syne"/>
              </a:defRPr>
            </a:pPr>
            <a:r>
              <a:t>You have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600">
                <a:solidFill>
                  <a:srgbClr val="B8B8B4"/>
                </a:solidFill>
                <a:latin typeface="Syne"/>
              </a:defRPr>
            </a:pPr>
            <a:r>
              <a:t>But good data is only useful when you can act on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800"/>
              </a:spcAft>
              <a:defRPr sz="1400">
                <a:solidFill>
                  <a:srgbClr val="B8B8B4"/>
                </a:solidFill>
                <a:latin typeface="IBM Plex Sans"/>
              </a:defRPr>
            </a:pPr>
            <a:r>
              <a:t>Most companies already own all the data they need. It lives in dozens of systems - none of them speaking the same language when leadership needs an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461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58582"/>
                </a:solidFill>
                <a:latin typeface="Syn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8B8B4"/>
                </a:solidFill>
                <a:latin typeface="IBM Plex Sans"/>
              </a:defRPr>
            </a:pPr>
            <a:r>
              <a:t>Fragmented data across systems — Sales, finance, operations, and marketing each maintain separate sources of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044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58582"/>
                </a:solidFill>
                <a:latin typeface="Syne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0448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8B8B4"/>
                </a:solidFill>
                <a:latin typeface="IBM Plex Sans"/>
              </a:defRPr>
            </a:pPr>
            <a:r>
              <a:t>Reports that arrive too late — Manual workflows delay visibility until the decision window has closed.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62856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58582"/>
                </a:solidFill>
                <a:latin typeface="Syne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628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8B8B4"/>
                </a:solidFill>
                <a:latin typeface="IBM Plex Sans"/>
              </a:defRPr>
            </a:pPr>
            <a:r>
              <a:t>Dashboards without decision context — Charts without KPI hierarchy, ownership, or path from metric to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2122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58582"/>
                </a:solidFill>
                <a:latin typeface="Syne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21224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8B8B4"/>
                </a:solidFill>
                <a:latin typeface="IBM Plex Sans"/>
              </a:defRPr>
            </a:pPr>
            <a:r>
              <a:t>Legacy analytics holding back growth — On-prem warehouses and brittle ETL cannot scale with executive expectations.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200" b="0">
                <a:solidFill>
                  <a:srgbClr val="ECECEA"/>
                </a:solidFill>
                <a:latin typeface="Syne"/>
              </a:defRPr>
            </a:pPr>
            <a:r>
              <a:t>End-to-end analytics capabilities.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01952"/>
            <a:ext cx="36576" cy="502920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CECEA"/>
                </a:solidFill>
                <a:latin typeface="Syne"/>
              </a:defRPr>
            </a:pPr>
            <a:r>
              <a:t>Business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Executive and operational dashboards aligned to how your business makes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745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58582"/>
                </a:solidFill>
                <a:latin typeface="Consolas"/>
              </a:defRPr>
            </a:pPr>
            <a:r>
              <a:t>8–14 weeks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70632"/>
            <a:ext cx="36576" cy="502920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CECEA"/>
                </a:solidFill>
                <a:latin typeface="Syne"/>
              </a:defRPr>
            </a:pPr>
            <a:r>
              <a:t>Data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008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Reliable pipelines and modern warehouses that make analytics trustworthy at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743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58582"/>
                </a:solidFill>
                <a:latin typeface="Consolas"/>
              </a:defRPr>
            </a:pPr>
            <a:r>
              <a:t>10–16 weeks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639312"/>
            <a:ext cx="36576" cy="502920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CECEA"/>
                </a:solidFill>
                <a:latin typeface="Syne"/>
              </a:defRPr>
            </a:pPr>
            <a:r>
              <a:t>Analytics Modernization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Migrate legacy BI and reporting stacks without disrupting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611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58582"/>
                </a:solidFill>
                <a:latin typeface="Consolas"/>
              </a:defRPr>
            </a:pPr>
            <a:r>
              <a:t>12–20 weeks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07992"/>
            <a:ext cx="36576" cy="502920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CECEA"/>
                </a:solidFill>
                <a:latin typeface="Syne"/>
              </a:defRPr>
            </a:pPr>
            <a:r>
              <a:t>AI-powered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2744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Natural language access and intelligent summaries on trusted data foundations.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480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58582"/>
                </a:solidFill>
                <a:latin typeface="Consolas"/>
              </a:defRPr>
            </a:pPr>
            <a:r>
              <a:t>6–12 weeks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376672"/>
            <a:ext cx="36576" cy="502920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03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CECEA"/>
                </a:solidFill>
                <a:latin typeface="Syne"/>
              </a:defRPr>
            </a:pPr>
            <a:r>
              <a:t>Agentic AI &amp; Autonomous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961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AI agents that query data, surface anomalies, and deliver narrative summaries.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349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58582"/>
                </a:solidFill>
                <a:latin typeface="Consolas"/>
              </a:defRPr>
            </a:pPr>
            <a:r>
              <a:t>8–16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200" b="0">
                <a:solidFill>
                  <a:srgbClr val="ECECEA"/>
                </a:solidFill>
                <a:latin typeface="Syne"/>
              </a:defRPr>
            </a:pPr>
            <a:r>
              <a:t>Principal-led from discovery to handover.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74519"/>
            <a:ext cx="347472" cy="347472"/>
          </a:xfrm>
          <a:prstGeom prst="ellipse">
            <a:avLst/>
          </a:prstGeom>
          <a:solidFill>
            <a:srgbClr val="161615"/>
          </a:solidFill>
          <a:ln>
            <a:solidFill>
              <a:srgbClr val="FF0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9383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0234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CECEA"/>
                </a:solidFill>
                <a:latin typeface="Syne"/>
              </a:defRPr>
            </a:pPr>
            <a:r>
              <a:t>Principal-led Discovery</a:t>
            </a:r>
          </a:p>
          <a:p>
            <a:pPr>
              <a:lnSpc>
                <a:spcPct val="130000"/>
              </a:lnSpc>
              <a:defRPr sz="1000">
                <a:solidFill>
                  <a:srgbClr val="B8B8B4"/>
                </a:solidFill>
                <a:latin typeface="IBM Plex Sans"/>
              </a:defRPr>
            </a:pPr>
            <a:r>
              <a:t>Map decision workflows, data sources, and KPI gaps with leadership before touching architecture.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743199"/>
            <a:ext cx="347472" cy="347472"/>
          </a:xfrm>
          <a:prstGeom prst="ellipse">
            <a:avLst/>
          </a:prstGeom>
          <a:solidFill>
            <a:srgbClr val="161615"/>
          </a:solidFill>
          <a:ln>
            <a:solidFill>
              <a:srgbClr val="FF0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98063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0234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199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CECEA"/>
                </a:solidFill>
                <a:latin typeface="Syne"/>
              </a:defRPr>
            </a:pPr>
            <a:r>
              <a:t>Principal-led Solution Architecture</a:t>
            </a:r>
          </a:p>
          <a:p>
            <a:pPr>
              <a:lnSpc>
                <a:spcPct val="130000"/>
              </a:lnSpc>
              <a:defRPr sz="1000">
                <a:solidFill>
                  <a:srgbClr val="B8B8B4"/>
                </a:solidFill>
                <a:latin typeface="IBM Plex Sans"/>
              </a:defRPr>
            </a:pPr>
            <a:r>
              <a:t>Design platform, semantic model, and integration patterns against security and compliance requirements.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611879"/>
            <a:ext cx="347472" cy="347472"/>
          </a:xfrm>
          <a:prstGeom prst="ellipse">
            <a:avLst/>
          </a:prstGeom>
          <a:solidFill>
            <a:srgbClr val="161615"/>
          </a:solidFill>
          <a:ln>
            <a:solidFill>
              <a:srgbClr val="FF0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66743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0234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79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CECEA"/>
                </a:solidFill>
                <a:latin typeface="Syne"/>
              </a:defRPr>
            </a:pPr>
            <a:r>
              <a:t>Build</a:t>
            </a:r>
          </a:p>
          <a:p>
            <a:pPr>
              <a:lnSpc>
                <a:spcPct val="130000"/>
              </a:lnSpc>
              <a:defRPr sz="1000">
                <a:solidFill>
                  <a:srgbClr val="B8B8B4"/>
                </a:solidFill>
                <a:latin typeface="IBM Plex Sans"/>
              </a:defRPr>
            </a:pPr>
            <a:r>
              <a:t>Deliver pipelines, certified datasets, and dashboards in phased releases with parallel-run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480559"/>
            <a:ext cx="347472" cy="347472"/>
          </a:xfrm>
          <a:prstGeom prst="ellipse">
            <a:avLst/>
          </a:prstGeom>
          <a:solidFill>
            <a:srgbClr val="161615"/>
          </a:solidFill>
          <a:ln>
            <a:solidFill>
              <a:srgbClr val="FF0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35423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023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59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CECEA"/>
                </a:solidFill>
                <a:latin typeface="Syne"/>
              </a:defRPr>
            </a:pPr>
            <a:r>
              <a:t>Adopt</a:t>
            </a:r>
          </a:p>
          <a:p>
            <a:pPr>
              <a:lnSpc>
                <a:spcPct val="130000"/>
              </a:lnSpc>
              <a:defRPr sz="1000">
                <a:solidFill>
                  <a:srgbClr val="B8B8B4"/>
                </a:solidFill>
                <a:latin typeface="IBM Plex Sans"/>
              </a:defRPr>
            </a:pPr>
            <a:r>
              <a:t>Train business teams, assign KPI ownership, and establish refresh monitoring.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349239"/>
            <a:ext cx="347472" cy="347472"/>
          </a:xfrm>
          <a:prstGeom prst="ellipse">
            <a:avLst/>
          </a:prstGeom>
          <a:solidFill>
            <a:srgbClr val="161615"/>
          </a:solidFill>
          <a:ln>
            <a:solidFill>
              <a:srgbClr val="FF0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404103"/>
            <a:ext cx="347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023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39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CECEA"/>
                </a:solidFill>
                <a:latin typeface="Syne"/>
              </a:defRPr>
            </a:pPr>
            <a:r>
              <a:t>Founder-led Executive Handover</a:t>
            </a:r>
          </a:p>
          <a:p>
            <a:pPr>
              <a:lnSpc>
                <a:spcPct val="130000"/>
              </a:lnSpc>
              <a:defRPr sz="1000">
                <a:solidFill>
                  <a:srgbClr val="B8B8B4"/>
                </a:solidFill>
                <a:latin typeface="IBM Plex Sans"/>
              </a:defRPr>
            </a:pPr>
            <a:r>
              <a:t>Transition with executive sign-off, documentation, and ongoing optimization ownership.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INDUSTRIES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000" b="0">
                <a:solidFill>
                  <a:srgbClr val="ECECEA"/>
                </a:solidFill>
                <a:latin typeface="Syne"/>
              </a:defRPr>
            </a:pPr>
            <a:r>
              <a:t>Deep domain experience across regulated and high-growth sectors.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029200" cy="475488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CEA"/>
                </a:solidFill>
                <a:latin typeface="IBM Plex Sans"/>
              </a:defRPr>
            </a:pPr>
            <a:r>
              <a:t>Oil &amp; 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965960"/>
            <a:ext cx="5029200" cy="475488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05740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CEA"/>
                </a:solidFill>
                <a:latin typeface="IBM Plex Sans"/>
              </a:defRPr>
            </a:pPr>
            <a:r>
              <a:t>Shopify &amp; eCommerce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24328"/>
            <a:ext cx="5029200" cy="475488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CEA"/>
                </a:solidFill>
                <a:latin typeface="IBM Plex Sans"/>
              </a:defRPr>
            </a:pPr>
            <a:r>
              <a:t>Manufacturing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624328"/>
            <a:ext cx="5029200" cy="475488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71576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CEA"/>
                </a:solidFill>
                <a:latin typeface="IBM Plex Sans"/>
              </a:defRPr>
            </a:pPr>
            <a:r>
              <a:t>SaaS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82696"/>
            <a:ext cx="5029200" cy="475488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74136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CEA"/>
                </a:solidFill>
                <a:latin typeface="IBM Plex Sans"/>
              </a:defRPr>
            </a:pPr>
            <a:r>
              <a:t>Healthcare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82696"/>
            <a:ext cx="5029200" cy="475488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374136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CEA"/>
                </a:solidFill>
                <a:latin typeface="IBM Plex Sans"/>
              </a:defRPr>
            </a:pPr>
            <a:r>
              <a:t>Financial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41064"/>
            <a:ext cx="5029200" cy="475488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3250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CEA"/>
                </a:solidFill>
                <a:latin typeface="IBM Plex Sans"/>
              </a:defRPr>
            </a:pPr>
            <a:r>
              <a:t>Logistics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941064"/>
            <a:ext cx="5029200" cy="475488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03250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CECEA"/>
                </a:solidFill>
                <a:latin typeface="IBM Plex Sans"/>
              </a:defRPr>
            </a:pPr>
            <a:r>
              <a:t>Private Equity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200" b="0">
                <a:solidFill>
                  <a:srgbClr val="ECECEA"/>
                </a:solidFill>
                <a:latin typeface="Syne"/>
              </a:defRPr>
            </a:pPr>
            <a:r>
              <a:t>Measurable impact on how teams decide.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242316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04288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234"/>
                </a:solidFill>
                <a:latin typeface="Syne"/>
              </a:defRPr>
            </a:pPr>
            <a: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614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Faster executive reporting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03120"/>
            <a:ext cx="242316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304288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234"/>
                </a:solidFill>
                <a:latin typeface="Syne"/>
              </a:defRPr>
            </a:pPr>
            <a:r>
              <a:t>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614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Increase in self-service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103120"/>
            <a:ext cx="242316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304288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234"/>
                </a:solidFill>
                <a:latin typeface="Syne"/>
              </a:defRPr>
            </a:pPr>
            <a: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7614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Reduction in manual reconciliation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103120"/>
            <a:ext cx="242316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304288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0234"/>
                </a:solidFill>
                <a:latin typeface="Syne"/>
              </a:defRPr>
            </a:pPr>
            <a:r>
              <a:t>24h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7614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Data freshness for critical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39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800"/>
              </a:spcAft>
              <a:defRPr sz="1400">
                <a:solidFill>
                  <a:srgbClr val="B8B8B4"/>
                </a:solidFill>
                <a:latin typeface="IBM Plex Sans"/>
              </a:defRPr>
            </a:pPr>
            <a:r>
              <a:t>Engagements are scoped around business outcomes - not tool implementations. KPI frameworks, certified datasets, and executive-ready reporting are delivered together.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CASE STUDY · OIL &amp;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800" b="0">
                <a:solidFill>
                  <a:srgbClr val="ECECEA"/>
                </a:solidFill>
                <a:latin typeface="Syne"/>
              </a:defRPr>
            </a:pPr>
            <a:r>
              <a:t>Production &amp; Environmental Compliance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Client: Integrated energy major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Challenge: Production volumes and environmental compliance data lived in disconnected systems with no real-time monitoring - creating regulatory risk.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Solution: All-in-One Production Reporting Tool and Air Monitoring System (EMS Stream) in Power BI, consolidating multi-site well data with real-time threshold alerting.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Outcomes: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• Real-time air quality monitoring across all well perimeters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• Unified production tracking by well with automated refresh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• Regulatory compliance reporting available on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CASE STUDY · LIFE SCIENCES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800" b="0">
                <a:solidFill>
                  <a:srgbClr val="ECECEA"/>
                </a:solidFill>
                <a:latin typeface="Syne"/>
              </a:defRPr>
            </a:pPr>
            <a:r>
              <a:t>Clinical Trial Operations Analytics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Client: Global contract research organisation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Challenge: Analytics across trial operations, data quality, and HR sourced from fragmented CRM and HR systems with no single point of truth.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Solution: Four interconnected Power BI reports plus full SAS Visual Analytics to Power BI migration.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Outcomes: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• Single analytics layer across clinical, HR, and data quality functions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• Automated data credibility scoring replacing manual validation</a:t>
            </a:r>
          </a:p>
          <a:p>
            <a:pPr>
              <a:lnSpc>
                <a:spcPct val="145000"/>
              </a:lnSpc>
              <a:spcAft>
                <a:spcPts val="800"/>
              </a:spcAft>
              <a:defRPr sz="1200">
                <a:solidFill>
                  <a:srgbClr val="B8B8B4"/>
                </a:solidFill>
                <a:latin typeface="IBM Plex Sans"/>
              </a:defRPr>
            </a:pPr>
            <a:r>
              <a:t>• Full SAS VA migration with no loss of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200" b="0">
                <a:solidFill>
                  <a:srgbClr val="ECECEA"/>
                </a:solidFill>
                <a:latin typeface="Syne"/>
              </a:defRPr>
            </a:pPr>
            <a:r>
              <a:t>Platform-agnostic. Production-grade.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60020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75104"/>
            <a:ext cx="1380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04288" y="1920240"/>
            <a:ext cx="242316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14016" y="1975104"/>
            <a:ext cx="22037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TIBCO Spotfire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37176" y="1920240"/>
            <a:ext cx="173736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46904" y="1975104"/>
            <a:ext cx="1517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Snowflake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84264" y="1920240"/>
            <a:ext cx="1874519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975104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Databricks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8511" y="1920240"/>
            <a:ext cx="118872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39" y="1975104"/>
            <a:ext cx="9692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Azure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59" y="1920240"/>
            <a:ext cx="91440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76687" y="1975104"/>
            <a:ext cx="694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AWS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423160"/>
            <a:ext cx="1874519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478024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SQL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78607" y="2423160"/>
            <a:ext cx="1874519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88335" y="2478024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62854" y="2423160"/>
            <a:ext cx="160020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2" y="2478024"/>
            <a:ext cx="1380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BigQuery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2" y="2423160"/>
            <a:ext cx="146304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0" y="2478024"/>
            <a:ext cx="12435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Shopify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5550" y="2423160"/>
            <a:ext cx="146304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8" y="2478024"/>
            <a:ext cx="12435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HubSpot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18" y="2423160"/>
            <a:ext cx="1874519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8046" y="2478024"/>
            <a:ext cx="16550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Salesforce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926080"/>
            <a:ext cx="160020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2980944"/>
            <a:ext cx="13807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NetSuite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04288" y="2926080"/>
            <a:ext cx="2148839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14016" y="2980944"/>
            <a:ext cx="192938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Dynamics 365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62855" y="2926080"/>
            <a:ext cx="91440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2583" y="2980944"/>
            <a:ext cx="694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SAP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86983" y="2926080"/>
            <a:ext cx="132588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96711" y="2980944"/>
            <a:ext cx="11064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Python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22591" y="2926080"/>
            <a:ext cx="914400" cy="347472"/>
          </a:xfrm>
          <a:prstGeom prst="roundRect">
            <a:avLst/>
          </a:prstGeom>
          <a:solidFill>
            <a:srgbClr val="161615"/>
          </a:solidFill>
          <a:ln>
            <a:solidFill>
              <a:srgbClr val="353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19" y="2980944"/>
            <a:ext cx="694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8B8B4"/>
                </a:solidFill>
                <a:latin typeface="Consolas"/>
              </a:defRPr>
            </a:pPr>
            <a:r>
              <a:t>dbt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WHO YOU WORK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200" b="0">
                <a:solidFill>
                  <a:srgbClr val="ECECEA"/>
                </a:solidFill>
                <a:latin typeface="Syne"/>
              </a:defRPr>
            </a:pPr>
            <a:r>
              <a:t>Principal Consultants on every engagement.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1078992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ECEA"/>
                </a:solidFill>
                <a:latin typeface="Syne"/>
              </a:defRPr>
            </a:pPr>
            <a:r>
              <a:t>Ankita Jaiswal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0234"/>
                </a:solidFill>
                <a:latin typeface="IBM Plex Sans"/>
              </a:defRPr>
            </a:pPr>
            <a:r>
              <a:t>Principal Analytics Consultant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Business Intelligence · Executive Reporting · Power BI · TIBCO Spotfire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10789920" cy="123444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30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ECEA"/>
                </a:solidFill>
                <a:latin typeface="Syne"/>
              </a:defRPr>
            </a:pPr>
            <a:r>
              <a:t>Ayush Dubey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0234"/>
                </a:solidFill>
                <a:latin typeface="IBM Plex Sans"/>
              </a:defRPr>
            </a:pPr>
            <a:r>
              <a:t>Principal Data Platform &amp; AI Consultant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IBM Plex Sans"/>
              </a:defRPr>
            </a:pPr>
            <a:r>
              <a:t>Cloud Architecture · Data Engineering · Modern Analytics Platforms ·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92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Aft>
                <a:spcPts val="800"/>
              </a:spcAft>
              <a:defRPr sz="1100">
                <a:solidFill>
                  <a:srgbClr val="858582"/>
                </a:solidFill>
                <a:latin typeface="IBM Plex Sans"/>
              </a:defRPr>
            </a:pPr>
            <a:r>
              <a:t>Microsoft Certified · Expert-Vetted Consultant · Global Delivery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22860" cy="201168"/>
          </a:xfrm>
          <a:prstGeom prst="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CLIENT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789920" cy="256032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2200">
                <a:solidFill>
                  <a:srgbClr val="ECECEA"/>
                </a:solidFill>
                <a:latin typeface="Syne"/>
              </a:defRPr>
            </a:pPr>
            <a:r>
              <a:t>"Ankita is one of the most skilled professionals I have worked with. She has advanced Power BI knowledge along with outstanding communication skills."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58582"/>
                </a:solidFill>
                <a:latin typeface="Consolas"/>
              </a:defRPr>
            </a:pPr>
            <a:r>
              <a:t>Verified Upwork client  ·  Top Rated Plus · 5★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noeris.io  ·  hello@noeris.io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77724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13816"/>
            <a:ext cx="329184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yne"/>
              </a:defRPr>
            </a:pPr>
            <a: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" y="777240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ECEA"/>
                </a:solidFill>
                <a:latin typeface="IBM Plex Sans"/>
              </a:defRPr>
            </a:pPr>
            <a:r>
              <a:t>Noeris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941832"/>
            <a:ext cx="2286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858582"/>
                </a:solidFill>
                <a:latin typeface="Consolas"/>
              </a:defRPr>
            </a:pPr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8B8B4"/>
                </a:solidFill>
                <a:latin typeface="Consolas"/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600" b="0">
                <a:solidFill>
                  <a:srgbClr val="ECECEA"/>
                </a:solidFill>
                <a:latin typeface="Syne"/>
              </a:defRPr>
            </a:pPr>
            <a:r>
              <a:t>Work directly with the consultants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000">
                <a:solidFill>
                  <a:srgbClr val="B8B8B4"/>
                </a:solidFill>
                <a:latin typeface="Syne"/>
              </a:defRPr>
            </a:pPr>
            <a:r>
              <a:t>who architect and deliver every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46120"/>
            <a:ext cx="5669280" cy="1417320"/>
          </a:xfrm>
          <a:prstGeom prst="roundRect">
            <a:avLst/>
          </a:prstGeom>
          <a:solidFill>
            <a:srgbClr val="161615"/>
          </a:solidFill>
          <a:ln>
            <a:solidFill>
              <a:srgbClr val="282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9300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CECEA"/>
                </a:solidFill>
                <a:latin typeface="Consolas"/>
              </a:defRPr>
            </a:pPr>
            <a:r>
              <a:t>hello@noeris.io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8B8B4"/>
                </a:solidFill>
                <a:latin typeface="Consolas"/>
              </a:defRPr>
            </a:pPr>
            <a:r>
              <a:t>noeris.io/contact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983480"/>
            <a:ext cx="3154680" cy="530352"/>
          </a:xfrm>
          <a:prstGeom prst="roundRect">
            <a:avLst/>
          </a:prstGeom>
          <a:solidFill>
            <a:srgbClr val="FF0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IBM Plex Sans"/>
              </a:defRPr>
            </a:pPr>
            <a:r>
              <a:t>Book a call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8582"/>
                </a:solidFill>
                <a:latin typeface="Consolas"/>
              </a:defRPr>
            </a:pPr>
            <a:r>
              <a:t>Confidential · Noeris Analytics · noeris.io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